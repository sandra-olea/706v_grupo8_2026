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yByUKf5antyQKyVWkyLD7SerJ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0F99DB-404B-4F98-9270-FC9EDB28084A}">
  <a:tblStyle styleId="{660F99DB-404B-4F98-9270-FC9EDB28084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a9c9bd5d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fa9c9bd5d1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8d1962032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8d1962032_0_10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Relationship Id="rId6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11.png"/><Relationship Id="rId6" Type="http://schemas.openxmlformats.org/officeDocument/2006/relationships/image" Target="../media/image23.png"/><Relationship Id="rId7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17304"/>
              <a:buFont typeface="Calibri"/>
              <a:buNone/>
            </a:pPr>
            <a:r>
              <a:rPr lang="es-CL"/>
              <a:t>Presentación Portafolio </a:t>
            </a:r>
            <a:r>
              <a:rPr lang="es-CL"/>
              <a:t>Título</a:t>
            </a:r>
            <a:br>
              <a:rPr lang="es-CL"/>
            </a:br>
            <a:r>
              <a:rPr lang="es-CL" sz="2761"/>
              <a:t>“</a:t>
            </a:r>
            <a:r>
              <a:rPr i="1" lang="es-CL" sz="2761"/>
              <a:t>Sistema de Escritorio VAREKTA para pymes y comercios minoristas </a:t>
            </a:r>
            <a:r>
              <a:rPr lang="es-CL" sz="2761"/>
              <a:t>”</a:t>
            </a:r>
            <a:endParaRPr sz="2761"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pic>
        <p:nvPicPr>
          <p:cNvPr id="86" name="Google Shape;8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609725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" name="Google Shape;92;p2"/>
          <p:cNvGrpSpPr/>
          <p:nvPr/>
        </p:nvGrpSpPr>
        <p:grpSpPr>
          <a:xfrm>
            <a:off x="4561133" y="1381266"/>
            <a:ext cx="5967880" cy="5259198"/>
            <a:chOff x="4068425" y="1020724"/>
            <a:chExt cx="6786309" cy="5980439"/>
          </a:xfrm>
        </p:grpSpPr>
        <p:sp>
          <p:nvSpPr>
            <p:cNvPr id="93" name="Google Shape;93;p2"/>
            <p:cNvSpPr/>
            <p:nvPr/>
          </p:nvSpPr>
          <p:spPr>
            <a:xfrm>
              <a:off x="4068425" y="1020724"/>
              <a:ext cx="6781017" cy="1092473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0261" rotWithShape="0" algn="ctr" dir="5400000" dist="16754">
                <a:srgbClr val="000000">
                  <a:alpha val="63137"/>
                </a:srgbClr>
              </a:outerShdw>
            </a:effectLst>
          </p:spPr>
          <p:txBody>
            <a:bodyPr anchorCtr="0" anchor="ctr" bIns="80400" lIns="80400" spcFirstLastPara="1" rIns="80400" wrap="square" tIns="80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5531377" y="1020724"/>
              <a:ext cx="5318064" cy="10924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350" lIns="70350" spcFirstLastPara="1" rIns="70350" wrap="square" tIns="703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47"/>
                <a:buFont typeface="Calibri"/>
                <a:buNone/>
              </a:pPr>
              <a:r>
                <a:rPr lang="es-CL" sz="1847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Braulio Alarcón</a:t>
              </a:r>
              <a:endParaRPr sz="1847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50783" lvl="1" marL="150782" marR="0" rtl="0" algn="l">
                <a:lnSpc>
                  <a:spcPct val="90000"/>
                </a:lnSpc>
                <a:spcBef>
                  <a:spcPts val="646"/>
                </a:spcBef>
                <a:spcAft>
                  <a:spcPts val="0"/>
                </a:spcAft>
                <a:buClr>
                  <a:schemeClr val="lt1"/>
                </a:buClr>
                <a:buSzPts val="1407"/>
                <a:buFont typeface="Calibri"/>
                <a:buChar char="•"/>
              </a:pPr>
              <a:r>
                <a:rPr lang="es-CL" sz="1407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</a:t>
              </a:r>
              <a:endParaRPr b="0" i="0" sz="1407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50783" lvl="1" marL="150782" marR="0" rtl="0" algn="l">
                <a:lnSpc>
                  <a:spcPct val="90000"/>
                </a:lnSpc>
                <a:spcBef>
                  <a:spcPts val="211"/>
                </a:spcBef>
                <a:spcAft>
                  <a:spcPts val="0"/>
                </a:spcAft>
                <a:buClr>
                  <a:schemeClr val="lt1"/>
                </a:buClr>
                <a:buSzPts val="1407"/>
                <a:buFont typeface="Calibri"/>
                <a:buChar char="•"/>
              </a:pPr>
              <a:r>
                <a:rPr lang="es-CL" sz="1407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Planificación y coordinación </a:t>
              </a:r>
              <a:endParaRPr b="0" i="0" sz="1407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4175174" y="1129971"/>
              <a:ext cx="1356203" cy="873978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0261" rotWithShape="0" algn="ctr" dir="5400000" dist="16754">
                <a:srgbClr val="000000">
                  <a:alpha val="63137"/>
                </a:srgbClr>
              </a:outerShdw>
            </a:effectLst>
          </p:spPr>
          <p:txBody>
            <a:bodyPr anchorCtr="0" anchor="ctr" bIns="80400" lIns="80400" spcFirstLastPara="1" rIns="80400" wrap="square" tIns="80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31"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4068425" y="2222445"/>
              <a:ext cx="6781017" cy="1092473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0261" rotWithShape="0" algn="ctr" dir="5400000" dist="16754">
                <a:srgbClr val="000000">
                  <a:alpha val="63137"/>
                </a:srgbClr>
              </a:outerShdw>
            </a:effectLst>
          </p:spPr>
          <p:txBody>
            <a:bodyPr anchorCtr="0" anchor="ctr" bIns="80400" lIns="80400" spcFirstLastPara="1" rIns="80400" wrap="square" tIns="80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5531377" y="2222445"/>
              <a:ext cx="5318064" cy="10924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350" lIns="70350" spcFirstLastPara="1" rIns="70350" wrap="square" tIns="703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47"/>
                <a:buFont typeface="Calibri"/>
                <a:buNone/>
              </a:pPr>
              <a:r>
                <a:rPr lang="es-CL" sz="1847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Néstor Gárate</a:t>
              </a:r>
              <a:endParaRPr b="0" i="0" sz="1847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50783" lvl="1" marL="150782" marR="0" rtl="0" algn="l">
                <a:lnSpc>
                  <a:spcPct val="90000"/>
                </a:lnSpc>
                <a:spcBef>
                  <a:spcPts val="646"/>
                </a:spcBef>
                <a:spcAft>
                  <a:spcPts val="0"/>
                </a:spcAft>
                <a:buClr>
                  <a:schemeClr val="lt1"/>
                </a:buClr>
                <a:buSzPts val="1407"/>
                <a:buFont typeface="Calibri"/>
                <a:buChar char="•"/>
              </a:pPr>
              <a:r>
                <a:rPr lang="es-CL" sz="1407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</a:t>
              </a:r>
              <a:r>
                <a:rPr lang="es-CL" sz="1407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de Calidad</a:t>
              </a:r>
              <a:endParaRPr b="0" i="0" sz="1407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50783" lvl="1" marL="150782" marR="0" rtl="0" algn="l">
                <a:lnSpc>
                  <a:spcPct val="90000"/>
                </a:lnSpc>
                <a:spcBef>
                  <a:spcPts val="211"/>
                </a:spcBef>
                <a:spcAft>
                  <a:spcPts val="0"/>
                </a:spcAft>
                <a:buClr>
                  <a:schemeClr val="lt1"/>
                </a:buClr>
                <a:buSzPts val="1407"/>
                <a:buFont typeface="Calibri"/>
                <a:buChar char="•"/>
              </a:pPr>
              <a:r>
                <a:rPr lang="es-CL" sz="1407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Pruebas y calidad </a:t>
              </a:r>
              <a:endParaRPr b="0" i="0" sz="1407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4175174" y="2331692"/>
              <a:ext cx="1356203" cy="873978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0261" rotWithShape="0" algn="ctr" dir="5400000" dist="16754">
                <a:srgbClr val="000000">
                  <a:alpha val="63137"/>
                </a:srgbClr>
              </a:outerShdw>
            </a:effectLst>
          </p:spPr>
          <p:txBody>
            <a:bodyPr anchorCtr="0" anchor="ctr" bIns="80400" lIns="80400" spcFirstLastPara="1" rIns="80400" wrap="square" tIns="80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4068425" y="3424166"/>
              <a:ext cx="6781017" cy="1092473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0261" rotWithShape="0" algn="ctr" dir="5400000" dist="16754">
                <a:srgbClr val="000000">
                  <a:alpha val="63137"/>
                </a:srgbClr>
              </a:outerShdw>
            </a:effectLst>
          </p:spPr>
          <p:txBody>
            <a:bodyPr anchorCtr="0" anchor="ctr" bIns="80400" lIns="80400" spcFirstLastPara="1" rIns="80400" wrap="square" tIns="80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5531377" y="3424166"/>
              <a:ext cx="5318064" cy="10924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350" lIns="70350" spcFirstLastPara="1" rIns="70350" wrap="square" tIns="703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47"/>
                <a:buFont typeface="Calibri"/>
                <a:buNone/>
              </a:pPr>
              <a:r>
                <a:rPr lang="es-CL" sz="1847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Bryan Escobar</a:t>
              </a:r>
              <a:endParaRPr sz="1231"/>
            </a:p>
            <a:p>
              <a:pPr indent="-150783" lvl="1" marL="150782" marR="0" rtl="0" algn="l">
                <a:lnSpc>
                  <a:spcPct val="90000"/>
                </a:lnSpc>
                <a:spcBef>
                  <a:spcPts val="646"/>
                </a:spcBef>
                <a:spcAft>
                  <a:spcPts val="0"/>
                </a:spcAft>
                <a:buClr>
                  <a:schemeClr val="lt1"/>
                </a:buClr>
                <a:buSzPts val="1407"/>
                <a:buFont typeface="Calibri"/>
                <a:buChar char="•"/>
              </a:pPr>
              <a:r>
                <a:rPr lang="es-CL" sz="1407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Full Stack</a:t>
              </a:r>
              <a:endParaRPr sz="1231"/>
            </a:p>
            <a:p>
              <a:pPr indent="-150783" lvl="1" marL="150782" marR="0" rtl="0" algn="l">
                <a:lnSpc>
                  <a:spcPct val="90000"/>
                </a:lnSpc>
                <a:spcBef>
                  <a:spcPts val="211"/>
                </a:spcBef>
                <a:spcAft>
                  <a:spcPts val="0"/>
                </a:spcAft>
                <a:buClr>
                  <a:schemeClr val="lt1"/>
                </a:buClr>
                <a:buSzPts val="1407"/>
                <a:buFont typeface="Calibri"/>
                <a:buChar char="•"/>
              </a:pPr>
              <a:r>
                <a:rPr lang="es-CL" sz="1407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POS </a:t>
              </a:r>
              <a:endParaRPr sz="1231"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4175174" y="3533413"/>
              <a:ext cx="1356203" cy="873978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0261" rotWithShape="0" algn="ctr" dir="5400000" dist="16754">
                <a:srgbClr val="000000">
                  <a:alpha val="63137"/>
                </a:srgbClr>
              </a:outerShdw>
            </a:effectLst>
          </p:spPr>
          <p:txBody>
            <a:bodyPr anchorCtr="0" anchor="ctr" bIns="80400" lIns="80400" spcFirstLastPara="1" rIns="80400" wrap="square" tIns="80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4068425" y="4625886"/>
              <a:ext cx="6781017" cy="1092473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0261" rotWithShape="0" algn="ctr" dir="5400000" dist="16754">
                <a:srgbClr val="000000">
                  <a:alpha val="63137"/>
                </a:srgbClr>
              </a:outerShdw>
            </a:effectLst>
          </p:spPr>
          <p:txBody>
            <a:bodyPr anchorCtr="0" anchor="ctr" bIns="80400" lIns="80400" spcFirstLastPara="1" rIns="80400" wrap="square" tIns="80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5531377" y="4625886"/>
              <a:ext cx="5318064" cy="10924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350" lIns="70350" spcFirstLastPara="1" rIns="70350" wrap="square" tIns="703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47"/>
                <a:buFont typeface="Calibri"/>
                <a:buNone/>
              </a:pPr>
              <a:r>
                <a:rPr lang="es-CL" sz="1847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Nicole Reyes</a:t>
              </a:r>
              <a:endParaRPr b="0" i="0" sz="1847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50783" lvl="1" marL="150782" marR="0" rtl="0" algn="l">
                <a:lnSpc>
                  <a:spcPct val="90000"/>
                </a:lnSpc>
                <a:spcBef>
                  <a:spcPts val="646"/>
                </a:spcBef>
                <a:spcAft>
                  <a:spcPts val="0"/>
                </a:spcAft>
                <a:buClr>
                  <a:schemeClr val="lt1"/>
                </a:buClr>
                <a:buSzPts val="1407"/>
                <a:buFont typeface="Calibri"/>
                <a:buChar char="•"/>
              </a:pPr>
              <a:r>
                <a:rPr lang="es-CL" sz="1407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Full Stack</a:t>
              </a:r>
              <a:endParaRPr b="0" i="0" sz="1407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50783" lvl="1" marL="150782" marR="0" rtl="0" algn="l">
                <a:lnSpc>
                  <a:spcPct val="90000"/>
                </a:lnSpc>
                <a:spcBef>
                  <a:spcPts val="211"/>
                </a:spcBef>
                <a:spcAft>
                  <a:spcPts val="0"/>
                </a:spcAft>
                <a:buClr>
                  <a:schemeClr val="lt1"/>
                </a:buClr>
                <a:buSzPts val="1407"/>
                <a:buFont typeface="Calibri"/>
                <a:buChar char="•"/>
              </a:pPr>
              <a:r>
                <a:rPr lang="es-CL" sz="1407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BODEGA </a:t>
              </a:r>
              <a:endParaRPr sz="1407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4175174" y="4735134"/>
              <a:ext cx="1356203" cy="873978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0261" rotWithShape="0" algn="ctr" dir="5400000" dist="16754">
                <a:srgbClr val="000000">
                  <a:alpha val="63137"/>
                </a:srgbClr>
              </a:outerShdw>
            </a:effectLst>
          </p:spPr>
          <p:txBody>
            <a:bodyPr anchorCtr="0" anchor="ctr" bIns="80400" lIns="80400" spcFirstLastPara="1" rIns="80400" wrap="square" tIns="80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4073682" y="5827563"/>
              <a:ext cx="6780900" cy="1173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12" scaled="0"/>
            </a:gradFill>
            <a:ln>
              <a:noFill/>
            </a:ln>
            <a:effectLst>
              <a:outerShdw blurRad="50261" rotWithShape="0" algn="ctr" dir="5400000" dist="16754">
                <a:srgbClr val="000000">
                  <a:alpha val="63140"/>
                </a:srgbClr>
              </a:outerShdw>
            </a:effectLst>
          </p:spPr>
          <p:txBody>
            <a:bodyPr anchorCtr="0" anchor="ctr" bIns="80400" lIns="80400" spcFirstLastPara="1" rIns="80400" wrap="square" tIns="80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5536634" y="5827563"/>
              <a:ext cx="5318100" cy="117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350" lIns="70350" spcFirstLastPara="1" rIns="70350" wrap="square" tIns="703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47"/>
                <a:buFont typeface="Calibri"/>
                <a:buNone/>
              </a:pPr>
              <a:r>
                <a:rPr lang="es-CL" sz="1847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Matias Salinas</a:t>
              </a:r>
              <a:endParaRPr b="0" i="0" sz="1847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50783" lvl="1" marL="150782" marR="0" rtl="0" algn="l">
                <a:lnSpc>
                  <a:spcPct val="90000"/>
                </a:lnSpc>
                <a:spcBef>
                  <a:spcPts val="646"/>
                </a:spcBef>
                <a:spcAft>
                  <a:spcPts val="0"/>
                </a:spcAft>
                <a:buClr>
                  <a:schemeClr val="lt1"/>
                </a:buClr>
                <a:buSzPts val="1407"/>
                <a:buFont typeface="Calibri"/>
                <a:buChar char="•"/>
              </a:pPr>
              <a:r>
                <a:rPr lang="es-CL" sz="1407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Administrador de Bases de Datos</a:t>
              </a:r>
              <a:endParaRPr b="0" i="0" sz="1407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50783" lvl="1" marL="150782" marR="0" rtl="0" algn="l">
                <a:lnSpc>
                  <a:spcPct val="90000"/>
                </a:lnSpc>
                <a:spcBef>
                  <a:spcPts val="211"/>
                </a:spcBef>
                <a:spcAft>
                  <a:spcPts val="0"/>
                </a:spcAft>
                <a:buClr>
                  <a:schemeClr val="lt1"/>
                </a:buClr>
                <a:buSzPts val="1407"/>
                <a:buFont typeface="Calibri"/>
                <a:buChar char="•"/>
              </a:pPr>
              <a:r>
                <a:rPr lang="es-CL" sz="1407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Base de datos </a:t>
              </a:r>
              <a:endParaRPr sz="1407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180431" y="5944924"/>
              <a:ext cx="1356300" cy="939000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0261" rotWithShape="0" algn="ctr" dir="5400000" dist="16754">
                <a:srgbClr val="000000">
                  <a:alpha val="63140"/>
                </a:srgbClr>
              </a:outerShdw>
            </a:effectLst>
          </p:spPr>
          <p:txBody>
            <a:bodyPr anchorCtr="0" anchor="ctr" bIns="80400" lIns="80400" spcFirstLastPara="1" rIns="80400" wrap="square" tIns="80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8" name="Google Shape;10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609725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>
            <p:ph type="title"/>
          </p:nvPr>
        </p:nvSpPr>
        <p:spPr>
          <a:xfrm>
            <a:off x="0" y="1299200"/>
            <a:ext cx="121920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s-CL" sz="3760"/>
              <a:t>VAREKTA: Gestión Integrada para Pymes y Comercios </a:t>
            </a:r>
            <a:endParaRPr b="1" sz="3760"/>
          </a:p>
        </p:txBody>
      </p:sp>
      <p:pic>
        <p:nvPicPr>
          <p:cNvPr id="114" name="Google Shape;11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60972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200" y="2345050"/>
            <a:ext cx="3896375" cy="389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4456737" y="2374048"/>
            <a:ext cx="1838700" cy="36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b="1" i="0" sz="26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4422175" y="2874715"/>
            <a:ext cx="7397400" cy="14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🔸 La gestión separada de ventas, caja, inventario y compras dificulta el control de las operaciones.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🔸 Esto puede generar diferencias de stock, pérdida de información y dificultades en el abastecimiento.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4507663" y="4464330"/>
            <a:ext cx="2164800" cy="36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Nuestra </a:t>
            </a:r>
            <a:r>
              <a:rPr b="1" lang="es-CL" sz="1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r>
              <a:rPr b="1" lang="es-CL" sz="1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1" i="0" sz="26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4509006" y="4950545"/>
            <a:ext cx="7165500" cy="14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93C47D"/>
                </a:solidFill>
                <a:latin typeface="Calibri"/>
                <a:ea typeface="Calibri"/>
                <a:cs typeface="Calibri"/>
                <a:sym typeface="Calibri"/>
              </a:rPr>
              <a:t>✔ 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VAREKTA POS + VAREKTA BODEGA, dos aplicaciones integradas para centralizar la gestión del negocio.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CL" sz="1600">
                <a:solidFill>
                  <a:srgbClr val="93C47D"/>
                </a:solidFill>
                <a:latin typeface="Calibri"/>
                <a:ea typeface="Calibri"/>
                <a:cs typeface="Calibri"/>
                <a:sym typeface="Calibri"/>
              </a:rPr>
              <a:t>✔ 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mejorar el control de ventas, inventario y abastecimiento, manteniendo la información centralizada y actualizada.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a9c9bd5d1_0_25"/>
          <p:cNvSpPr txBox="1"/>
          <p:nvPr>
            <p:ph type="title"/>
          </p:nvPr>
        </p:nvSpPr>
        <p:spPr>
          <a:xfrm>
            <a:off x="0" y="1299200"/>
            <a:ext cx="121920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s-CL" sz="3760"/>
              <a:t>Contexto</a:t>
            </a:r>
            <a:endParaRPr b="1" sz="3760"/>
          </a:p>
        </p:txBody>
      </p:sp>
      <p:pic>
        <p:nvPicPr>
          <p:cNvPr id="125" name="Google Shape;125;g3fa9c9bd5d1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60972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fa9c9bd5d1_0_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27600" y="2134500"/>
            <a:ext cx="12319600" cy="48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fa9c9bd5d1_0_25"/>
          <p:cNvSpPr txBox="1"/>
          <p:nvPr/>
        </p:nvSpPr>
        <p:spPr>
          <a:xfrm>
            <a:off x="152400" y="2257250"/>
            <a:ext cx="2583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2026 – Nace VAREKTA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académico para pymes.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fa9c9bd5d1_0_25"/>
          <p:cNvSpPr txBox="1"/>
          <p:nvPr/>
        </p:nvSpPr>
        <p:spPr>
          <a:xfrm>
            <a:off x="2276656" y="6048900"/>
            <a:ext cx="25836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Falta de control e integración. 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fa9c9bd5d1_0_25"/>
          <p:cNvSpPr txBox="1"/>
          <p:nvPr/>
        </p:nvSpPr>
        <p:spPr>
          <a:xfrm>
            <a:off x="4860250" y="2263406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VAREKTA POS + BODEGA.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fa9c9bd5d1_0_25"/>
          <p:cNvSpPr txBox="1"/>
          <p:nvPr/>
        </p:nvSpPr>
        <p:spPr>
          <a:xfrm>
            <a:off x="7135414" y="604890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 compartida. 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fa9c9bd5d1_0_25"/>
          <p:cNvSpPr txBox="1"/>
          <p:nvPr/>
        </p:nvSpPr>
        <p:spPr>
          <a:xfrm>
            <a:off x="9192000" y="224255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Proyección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Solución para pequeños comercios.</a:t>
            </a:r>
            <a:r>
              <a:rPr lang="es-CL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VAREKTA, compuesto por VAREKTA POS y VAREKTA BODEGA, para apoyar la gestión de ventas, caja, inventario y abastecimiento de pymes y comercios minoristas.</a:t>
            </a: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-"/>
            </a:pP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Mejorar el control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ventas y caja.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-"/>
            </a:pP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Optimizar la gestión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inventario y stock.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-"/>
            </a:pP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Fortalecer el control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compras y abastecimiento.</a:t>
            </a:r>
            <a:endParaRPr b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152400" y="4009875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609725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/>
          <p:nvPr>
            <p:ph type="title"/>
          </p:nvPr>
        </p:nvSpPr>
        <p:spPr>
          <a:xfrm>
            <a:off x="1390017" y="1708400"/>
            <a:ext cx="22086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ALCANCE</a:t>
            </a:r>
            <a:endParaRPr/>
          </a:p>
        </p:txBody>
      </p:sp>
      <p:pic>
        <p:nvPicPr>
          <p:cNvPr id="146" name="Google Shape;14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60972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 txBox="1"/>
          <p:nvPr>
            <p:ph type="title"/>
          </p:nvPr>
        </p:nvSpPr>
        <p:spPr>
          <a:xfrm>
            <a:off x="7429000" y="1708400"/>
            <a:ext cx="35352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LIMITACIONES</a:t>
            </a:r>
            <a:endParaRPr/>
          </a:p>
        </p:txBody>
      </p:sp>
      <p:cxnSp>
        <p:nvCxnSpPr>
          <p:cNvPr id="148" name="Google Shape;148;p5"/>
          <p:cNvCxnSpPr/>
          <p:nvPr/>
        </p:nvCxnSpPr>
        <p:spPr>
          <a:xfrm>
            <a:off x="5382016" y="1861675"/>
            <a:ext cx="0" cy="3871200"/>
          </a:xfrm>
          <a:prstGeom prst="straightConnector1">
            <a:avLst/>
          </a:prstGeom>
          <a:noFill/>
          <a:ln cap="flat" cmpd="sng" w="7620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5"/>
          <p:cNvSpPr/>
          <p:nvPr/>
        </p:nvSpPr>
        <p:spPr>
          <a:xfrm>
            <a:off x="6602500" y="1708400"/>
            <a:ext cx="826500" cy="8700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908525" y="1683650"/>
            <a:ext cx="481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CL" sz="4000">
                <a:solidFill>
                  <a:srgbClr val="93C47D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b="1" sz="3800"/>
          </a:p>
        </p:txBody>
      </p:sp>
      <p:sp>
        <p:nvSpPr>
          <p:cNvPr id="151" name="Google Shape;151;p5"/>
          <p:cNvSpPr txBox="1"/>
          <p:nvPr/>
        </p:nvSpPr>
        <p:spPr>
          <a:xfrm>
            <a:off x="681450" y="3073775"/>
            <a:ext cx="38307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ventas y caja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inventario y stock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productos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proveedores y compras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VAREKTA POS + BODEGA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 centralizada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6698511" y="3073775"/>
            <a:ext cx="32796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facturación electrónica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integración con SII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módulo de contabilidad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remuneraciones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comercio electrónico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aplicación móvil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Usuarios</a:t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737977" y="2329125"/>
            <a:ext cx="2396700" cy="334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y control general del sistema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7775" y="2508325"/>
            <a:ext cx="1054450" cy="105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60972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6"/>
          <p:cNvPicPr preferRelativeResize="0"/>
          <p:nvPr/>
        </p:nvPicPr>
        <p:blipFill rotWithShape="1">
          <a:blip r:embed="rId5">
            <a:alphaModFix/>
          </a:blip>
          <a:srcRect b="34147" l="0" r="0" t="35237"/>
          <a:stretch/>
        </p:blipFill>
        <p:spPr>
          <a:xfrm>
            <a:off x="1445709" y="4137988"/>
            <a:ext cx="833525" cy="25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/>
          <p:nvPr/>
        </p:nvSpPr>
        <p:spPr>
          <a:xfrm>
            <a:off x="3369699" y="2394525"/>
            <a:ext cx="2396700" cy="334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JEFE DE BODEGA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inventario, stock, productos y compras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9497" y="2573725"/>
            <a:ext cx="1054450" cy="105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6"/>
          <p:cNvPicPr preferRelativeResize="0"/>
          <p:nvPr/>
        </p:nvPicPr>
        <p:blipFill rotWithShape="1">
          <a:blip r:embed="rId5">
            <a:alphaModFix/>
          </a:blip>
          <a:srcRect b="34147" l="0" r="0" t="35237"/>
          <a:stretch/>
        </p:blipFill>
        <p:spPr>
          <a:xfrm>
            <a:off x="4077431" y="4203388"/>
            <a:ext cx="833525" cy="25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6"/>
          <p:cNvSpPr/>
          <p:nvPr/>
        </p:nvSpPr>
        <p:spPr>
          <a:xfrm>
            <a:off x="6015924" y="2394525"/>
            <a:ext cx="2396700" cy="334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CAJERO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 de ventas, operación de caja y emisión de boleta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5722" y="2573725"/>
            <a:ext cx="1054450" cy="105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6"/>
          <p:cNvPicPr preferRelativeResize="0"/>
          <p:nvPr/>
        </p:nvPicPr>
        <p:blipFill rotWithShape="1">
          <a:blip r:embed="rId5">
            <a:alphaModFix/>
          </a:blip>
          <a:srcRect b="34147" l="0" r="0" t="35237"/>
          <a:stretch/>
        </p:blipFill>
        <p:spPr>
          <a:xfrm>
            <a:off x="6723656" y="4203388"/>
            <a:ext cx="833525" cy="25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/>
          <p:nvPr/>
        </p:nvSpPr>
        <p:spPr>
          <a:xfrm>
            <a:off x="8662149" y="2394525"/>
            <a:ext cx="2396700" cy="334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VENDEDOR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Atención de clientes y apoyo en el proceso de ventas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61947" y="2573725"/>
            <a:ext cx="1054450" cy="105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6"/>
          <p:cNvPicPr preferRelativeResize="0"/>
          <p:nvPr/>
        </p:nvPicPr>
        <p:blipFill rotWithShape="1">
          <a:blip r:embed="rId5">
            <a:alphaModFix/>
          </a:blip>
          <a:srcRect b="34147" l="0" r="0" t="35237"/>
          <a:stretch/>
        </p:blipFill>
        <p:spPr>
          <a:xfrm>
            <a:off x="9369881" y="4203388"/>
            <a:ext cx="833525" cy="25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</a:t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Acceso y administración: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inicio de sesión, usuarios, roles, empresas y sucursales.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Productos: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categorías, marcas, unidades de medida y códigos de barra.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Inventario: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bodegas, stock, movimientos, transferencias y alertas.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Compras: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proveedores, órdenes de compra y recepción de mercadería.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Ventas y caja: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cajas, turnos, ventas, medios de pago y anulaciones.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Gestión: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clientes, reportes, auditoría, notificaciones y exportación de información.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609725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8d1962032_0_1067"/>
          <p:cNvSpPr txBox="1"/>
          <p:nvPr>
            <p:ph type="title"/>
          </p:nvPr>
        </p:nvSpPr>
        <p:spPr>
          <a:xfrm>
            <a:off x="841416" y="1054442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</a:t>
            </a:r>
            <a:endParaRPr/>
          </a:p>
        </p:txBody>
      </p:sp>
      <p:pic>
        <p:nvPicPr>
          <p:cNvPr id="183" name="Google Shape;183;g3f8d1962032_0_10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60972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f8d1962032_0_10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59542"/>
            <a:ext cx="5892850" cy="4746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3f8d1962032_0_10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7650" y="1959542"/>
            <a:ext cx="5841950" cy="3626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 </a:t>
            </a:r>
            <a:r>
              <a:rPr b="1" lang="es-CL">
                <a:solidFill>
                  <a:srgbClr val="BF9000"/>
                </a:solidFill>
              </a:rPr>
              <a:t>POS</a:t>
            </a:r>
            <a:endParaRPr b="1">
              <a:solidFill>
                <a:srgbClr val="BF9000"/>
              </a:solidFill>
            </a:endParaRPr>
          </a:p>
        </p:txBody>
      </p:sp>
      <p:pic>
        <p:nvPicPr>
          <p:cNvPr id="191" name="Google Shape;19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60972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350" y="2103000"/>
            <a:ext cx="4464549" cy="235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8925" y="2103000"/>
            <a:ext cx="4244575" cy="22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3350" y="4643100"/>
            <a:ext cx="4176175" cy="24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73125" y="4650477"/>
            <a:ext cx="4176175" cy="2437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 </a:t>
            </a:r>
            <a:r>
              <a:rPr b="1" lang="es-CL">
                <a:solidFill>
                  <a:srgbClr val="BF9000"/>
                </a:solidFill>
              </a:rPr>
              <a:t>BODEGA</a:t>
            </a:r>
            <a:endParaRPr b="1">
              <a:solidFill>
                <a:srgbClr val="BF9000"/>
              </a:solidFill>
            </a:endParaRPr>
          </a:p>
        </p:txBody>
      </p:sp>
      <p:pic>
        <p:nvPicPr>
          <p:cNvPr id="201" name="Google Shape;20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60972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350" y="1830725"/>
            <a:ext cx="3953677" cy="22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11450" y="1830725"/>
            <a:ext cx="3427244" cy="22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2350" y="4272025"/>
            <a:ext cx="4182650" cy="2353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11450" y="4272025"/>
            <a:ext cx="4182650" cy="23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Hitos Importantes </a:t>
            </a:r>
            <a:endParaRPr/>
          </a:p>
        </p:txBody>
      </p:sp>
      <p:graphicFrame>
        <p:nvGraphicFramePr>
          <p:cNvPr id="211" name="Google Shape;211;p10"/>
          <p:cNvGraphicFramePr/>
          <p:nvPr/>
        </p:nvGraphicFramePr>
        <p:xfrm>
          <a:off x="2737834" y="21393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{660F99DB-404B-4F98-9270-FC9EDB28084A}</a:tableStyleId>
              </a:tblPr>
              <a:tblGrid>
                <a:gridCol w="3217850"/>
                <a:gridCol w="4307375"/>
              </a:tblGrid>
              <a:tr h="41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lt1"/>
                          </a:solidFill>
                        </a:rPr>
                        <a:t>Nombre Fase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lt1"/>
                          </a:solidFill>
                        </a:rPr>
                        <a:t>Fechas</a:t>
                      </a:r>
                      <a:endParaRPr b="1"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chemeClr val="accen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/>
                        <a:t>Inicio y definición del alcance</a:t>
                      </a:r>
                      <a:endParaRPr sz="2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/>
                        <a:t>17/08/2026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68575" marL="68575"/>
                </a:tc>
              </a:tr>
              <a:tr h="3625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/>
                        <a:t>Acta, requerimientos y planificación base</a:t>
                      </a:r>
                      <a:endParaRPr sz="21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/>
                        <a:t>24/08/2026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/>
                        <a:t>Arquitectura, modelo de datos y prototipos</a:t>
                      </a:r>
                      <a:endParaRPr sz="2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/>
                        <a:t>31/08/2026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68575" marL="68575"/>
                </a:tc>
              </a:tr>
              <a:tr h="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/>
                        <a:t>Desarrollo funcional de POS y BODEGA</a:t>
                      </a:r>
                      <a:endParaRPr sz="2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/>
                        <a:t>20/09/2026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/>
                        <a:t>Integración y validación de base local SQLite</a:t>
                      </a:r>
                      <a:endParaRPr sz="2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/>
                        <a:t>24/09/2026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/>
                        <a:t>Congelamiento de código</a:t>
                      </a:r>
                      <a:endParaRPr sz="15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/>
                        <a:t>25/09/2026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/>
                        <a:t>QA, manuales y documentación final</a:t>
                      </a:r>
                      <a:endParaRPr sz="15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/>
                        <a:t>29/10/2026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/>
                        <a:t>Presentación y cierre del proyecto</a:t>
                      </a:r>
                      <a:endParaRPr sz="15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/>
                        <a:t>30/11/2026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pic>
        <p:nvPicPr>
          <p:cNvPr id="212" name="Google Shape;21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609725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 txBox="1"/>
          <p:nvPr>
            <p:ph type="title"/>
          </p:nvPr>
        </p:nvSpPr>
        <p:spPr>
          <a:xfrm>
            <a:off x="4987190" y="1554050"/>
            <a:ext cx="34803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Costos por Fase </a:t>
            </a:r>
            <a:endParaRPr/>
          </a:p>
        </p:txBody>
      </p:sp>
      <p:pic>
        <p:nvPicPr>
          <p:cNvPr id="218" name="Google Shape;21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609725" cy="457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11"/>
          <p:cNvGrpSpPr/>
          <p:nvPr/>
        </p:nvGrpSpPr>
        <p:grpSpPr>
          <a:xfrm>
            <a:off x="459123" y="1263559"/>
            <a:ext cx="4064100" cy="5735317"/>
            <a:chOff x="0" y="4799"/>
            <a:chExt cx="4064100" cy="5735317"/>
          </a:xfrm>
        </p:grpSpPr>
        <p:sp>
          <p:nvSpPr>
            <p:cNvPr id="220" name="Google Shape;220;p11"/>
            <p:cNvSpPr/>
            <p:nvPr/>
          </p:nvSpPr>
          <p:spPr>
            <a:xfrm>
              <a:off x="0" y="299999"/>
              <a:ext cx="4064100" cy="712800"/>
            </a:xfrm>
            <a:prstGeom prst="rect">
              <a:avLst/>
            </a:prstGeom>
            <a:solidFill>
              <a:srgbClr val="CDD4E9">
                <a:alpha val="90200"/>
              </a:srgbClr>
            </a:solidFill>
            <a:ln cap="flat" cmpd="sng" w="9525">
              <a:solidFill>
                <a:srgbClr val="4270C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1"/>
            <p:cNvSpPr txBox="1"/>
            <p:nvPr/>
          </p:nvSpPr>
          <p:spPr>
            <a:xfrm>
              <a:off x="0" y="299999"/>
              <a:ext cx="4064100" cy="7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315400" spcFirstLastPara="1" rIns="315400" wrap="square" tIns="3540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s-CL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$</a:t>
              </a:r>
              <a:r>
                <a:rPr lang="es-C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850.000.-</a:t>
              </a:r>
              <a:endParaRPr/>
            </a:p>
          </p:txBody>
        </p:sp>
        <p:sp>
          <p:nvSpPr>
            <p:cNvPr id="222" name="Google Shape;222;p11"/>
            <p:cNvSpPr/>
            <p:nvPr/>
          </p:nvSpPr>
          <p:spPr>
            <a:xfrm>
              <a:off x="203200" y="4799"/>
              <a:ext cx="3383400" cy="590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1"/>
            <p:cNvSpPr txBox="1"/>
            <p:nvPr/>
          </p:nvSpPr>
          <p:spPr>
            <a:xfrm>
              <a:off x="232021" y="33620"/>
              <a:ext cx="33258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07525" spcFirstLastPara="1" rIns="107525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C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Fase </a:t>
              </a:r>
              <a:r>
                <a:rPr lang="es-C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Análisis y planificación</a:t>
              </a:r>
              <a:endParaRPr/>
            </a:p>
          </p:txBody>
        </p:sp>
        <p:sp>
          <p:nvSpPr>
            <p:cNvPr id="224" name="Google Shape;224;p11"/>
            <p:cNvSpPr/>
            <p:nvPr/>
          </p:nvSpPr>
          <p:spPr>
            <a:xfrm>
              <a:off x="0" y="1415987"/>
              <a:ext cx="4064100" cy="816900"/>
            </a:xfrm>
            <a:prstGeom prst="rect">
              <a:avLst/>
            </a:prstGeom>
            <a:solidFill>
              <a:srgbClr val="CDD4E9">
                <a:alpha val="90200"/>
              </a:srgbClr>
            </a:solidFill>
            <a:ln cap="flat" cmpd="sng" w="9525">
              <a:solidFill>
                <a:srgbClr val="4270C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1"/>
            <p:cNvSpPr txBox="1"/>
            <p:nvPr/>
          </p:nvSpPr>
          <p:spPr>
            <a:xfrm>
              <a:off x="0" y="1415987"/>
              <a:ext cx="40641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315400" spcFirstLastPara="1" rIns="315400" wrap="square" tIns="3540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s-CL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$</a:t>
              </a:r>
              <a:r>
                <a:rPr lang="es-C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900.000</a:t>
              </a:r>
              <a:r>
                <a:rPr b="0" i="0" lang="es-CL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.-</a:t>
              </a:r>
              <a:endParaRPr/>
            </a:p>
          </p:txBody>
        </p:sp>
        <p:sp>
          <p:nvSpPr>
            <p:cNvPr id="226" name="Google Shape;226;p11"/>
            <p:cNvSpPr/>
            <p:nvPr/>
          </p:nvSpPr>
          <p:spPr>
            <a:xfrm>
              <a:off x="203200" y="1120787"/>
              <a:ext cx="3398400" cy="590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1"/>
            <p:cNvSpPr txBox="1"/>
            <p:nvPr/>
          </p:nvSpPr>
          <p:spPr>
            <a:xfrm>
              <a:off x="232021" y="1149608"/>
              <a:ext cx="33408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07525" spcFirstLastPara="1" rIns="1075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s-C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Fase </a:t>
              </a:r>
              <a:r>
                <a:rPr lang="es-C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Diseño y arquitectura</a:t>
              </a:r>
              <a:endParaRPr/>
            </a:p>
          </p:txBody>
        </p:sp>
        <p:sp>
          <p:nvSpPr>
            <p:cNvPr id="228" name="Google Shape;228;p11"/>
            <p:cNvSpPr/>
            <p:nvPr/>
          </p:nvSpPr>
          <p:spPr>
            <a:xfrm>
              <a:off x="0" y="2635972"/>
              <a:ext cx="4064100" cy="732600"/>
            </a:xfrm>
            <a:prstGeom prst="rect">
              <a:avLst/>
            </a:prstGeom>
            <a:solidFill>
              <a:srgbClr val="CDD4E9">
                <a:alpha val="90200"/>
              </a:srgbClr>
            </a:solidFill>
            <a:ln cap="flat" cmpd="sng" w="9525">
              <a:solidFill>
                <a:srgbClr val="4270C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1"/>
            <p:cNvSpPr txBox="1"/>
            <p:nvPr/>
          </p:nvSpPr>
          <p:spPr>
            <a:xfrm>
              <a:off x="0" y="2635972"/>
              <a:ext cx="4064100" cy="73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315400" spcFirstLastPara="1" rIns="315400" wrap="square" tIns="3540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s-CL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$2.</a:t>
              </a:r>
              <a:r>
                <a:rPr lang="es-C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500.000</a:t>
              </a:r>
              <a:r>
                <a:rPr b="0" i="0" lang="es-CL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.- </a:t>
              </a:r>
              <a:endParaRPr/>
            </a:p>
          </p:txBody>
        </p:sp>
        <p:sp>
          <p:nvSpPr>
            <p:cNvPr id="230" name="Google Shape;230;p11"/>
            <p:cNvSpPr/>
            <p:nvPr/>
          </p:nvSpPr>
          <p:spPr>
            <a:xfrm>
              <a:off x="203200" y="2340772"/>
              <a:ext cx="3429000" cy="590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1"/>
            <p:cNvSpPr txBox="1"/>
            <p:nvPr/>
          </p:nvSpPr>
          <p:spPr>
            <a:xfrm>
              <a:off x="232021" y="2369593"/>
              <a:ext cx="33714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07525" spcFirstLastPara="1" rIns="1075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s-C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Fase </a:t>
              </a:r>
              <a:r>
                <a:rPr lang="es-C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Desarrollo POS y BODEGA</a:t>
              </a:r>
              <a:endParaRPr/>
            </a:p>
          </p:txBody>
        </p:sp>
        <p:sp>
          <p:nvSpPr>
            <p:cNvPr id="232" name="Google Shape;232;p11"/>
            <p:cNvSpPr/>
            <p:nvPr/>
          </p:nvSpPr>
          <p:spPr>
            <a:xfrm>
              <a:off x="0" y="3771680"/>
              <a:ext cx="4064100" cy="794100"/>
            </a:xfrm>
            <a:prstGeom prst="rect">
              <a:avLst/>
            </a:prstGeom>
            <a:solidFill>
              <a:srgbClr val="CDD4E9">
                <a:alpha val="90200"/>
              </a:srgbClr>
            </a:solidFill>
            <a:ln cap="flat" cmpd="sng" w="9525">
              <a:solidFill>
                <a:srgbClr val="4270C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1"/>
            <p:cNvSpPr txBox="1"/>
            <p:nvPr/>
          </p:nvSpPr>
          <p:spPr>
            <a:xfrm>
              <a:off x="0" y="3771680"/>
              <a:ext cx="40641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315400" spcFirstLastPara="1" rIns="315400" wrap="square" tIns="3540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s-CL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$</a:t>
              </a:r>
              <a:r>
                <a:rPr lang="es-C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923.000</a:t>
              </a:r>
              <a:r>
                <a:rPr b="0" i="0" lang="es-CL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r>
                <a:rPr lang="es-C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  <p:sp>
          <p:nvSpPr>
            <p:cNvPr id="234" name="Google Shape;234;p11"/>
            <p:cNvSpPr/>
            <p:nvPr/>
          </p:nvSpPr>
          <p:spPr>
            <a:xfrm>
              <a:off x="203200" y="3476480"/>
              <a:ext cx="3352800" cy="590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1"/>
            <p:cNvSpPr txBox="1"/>
            <p:nvPr/>
          </p:nvSpPr>
          <p:spPr>
            <a:xfrm>
              <a:off x="232021" y="3505301"/>
              <a:ext cx="32952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07525" spcFirstLastPara="1" rIns="1075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s-C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Fase </a:t>
              </a:r>
              <a:r>
                <a:rPr lang="es-C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Integración y pruebas</a:t>
              </a:r>
              <a:endParaRPr/>
            </a:p>
          </p:txBody>
        </p:sp>
        <p:sp>
          <p:nvSpPr>
            <p:cNvPr id="236" name="Google Shape;236;p11"/>
            <p:cNvSpPr/>
            <p:nvPr/>
          </p:nvSpPr>
          <p:spPr>
            <a:xfrm>
              <a:off x="0" y="4922916"/>
              <a:ext cx="4064100" cy="817200"/>
            </a:xfrm>
            <a:prstGeom prst="rect">
              <a:avLst/>
            </a:prstGeom>
            <a:solidFill>
              <a:srgbClr val="CDD4E9">
                <a:alpha val="90200"/>
              </a:srgbClr>
            </a:solidFill>
            <a:ln cap="flat" cmpd="sng" w="9525">
              <a:solidFill>
                <a:srgbClr val="4270C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1"/>
            <p:cNvSpPr txBox="1"/>
            <p:nvPr/>
          </p:nvSpPr>
          <p:spPr>
            <a:xfrm>
              <a:off x="0" y="4922916"/>
              <a:ext cx="4064100" cy="81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315400" spcFirstLastPara="1" rIns="315400" wrap="square" tIns="3540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s-CL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$</a:t>
              </a:r>
              <a:r>
                <a:rPr lang="es-C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600.000</a:t>
              </a:r>
              <a:r>
                <a:rPr b="0" i="0" lang="es-CL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.- </a:t>
              </a:r>
              <a:endParaRPr/>
            </a:p>
          </p:txBody>
        </p:sp>
        <p:sp>
          <p:nvSpPr>
            <p:cNvPr id="238" name="Google Shape;238;p11"/>
            <p:cNvSpPr/>
            <p:nvPr/>
          </p:nvSpPr>
          <p:spPr>
            <a:xfrm>
              <a:off x="203200" y="4673885"/>
              <a:ext cx="3383400" cy="590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1"/>
            <p:cNvSpPr txBox="1"/>
            <p:nvPr/>
          </p:nvSpPr>
          <p:spPr>
            <a:xfrm>
              <a:off x="232021" y="4702706"/>
              <a:ext cx="33258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07525" spcFirstLastPara="1" rIns="1075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s-C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Fase </a:t>
              </a:r>
              <a:r>
                <a:rPr lang="es-C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Documentación y cierre</a:t>
              </a:r>
              <a:endParaRPr/>
            </a:p>
          </p:txBody>
        </p:sp>
      </p:grpSp>
      <p:grpSp>
        <p:nvGrpSpPr>
          <p:cNvPr id="240" name="Google Shape;240;p11"/>
          <p:cNvGrpSpPr/>
          <p:nvPr/>
        </p:nvGrpSpPr>
        <p:grpSpPr>
          <a:xfrm>
            <a:off x="4888711" y="2445384"/>
            <a:ext cx="4064100" cy="3363773"/>
            <a:chOff x="0" y="4799"/>
            <a:chExt cx="4064100" cy="3363773"/>
          </a:xfrm>
        </p:grpSpPr>
        <p:sp>
          <p:nvSpPr>
            <p:cNvPr id="241" name="Google Shape;241;p11"/>
            <p:cNvSpPr/>
            <p:nvPr/>
          </p:nvSpPr>
          <p:spPr>
            <a:xfrm>
              <a:off x="0" y="299999"/>
              <a:ext cx="4064100" cy="712800"/>
            </a:xfrm>
            <a:prstGeom prst="rect">
              <a:avLst/>
            </a:prstGeom>
            <a:solidFill>
              <a:srgbClr val="CDD4E9">
                <a:alpha val="90200"/>
              </a:srgbClr>
            </a:solidFill>
            <a:ln cap="flat" cmpd="sng" w="9525">
              <a:solidFill>
                <a:srgbClr val="4270C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1"/>
            <p:cNvSpPr txBox="1"/>
            <p:nvPr/>
          </p:nvSpPr>
          <p:spPr>
            <a:xfrm>
              <a:off x="0" y="299999"/>
              <a:ext cx="4064100" cy="7128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anchorCtr="0" anchor="t" bIns="128000" lIns="315400" spcFirstLastPara="1" rIns="315400" wrap="square" tIns="3540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s-CL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$</a:t>
              </a:r>
              <a:r>
                <a:rPr lang="es-C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5.773.000.-</a:t>
              </a:r>
              <a:endParaRPr/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203200" y="4799"/>
              <a:ext cx="3383400" cy="590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1"/>
            <p:cNvSpPr txBox="1"/>
            <p:nvPr/>
          </p:nvSpPr>
          <p:spPr>
            <a:xfrm>
              <a:off x="232021" y="33620"/>
              <a:ext cx="33258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07525" spcFirstLastPara="1" rIns="107525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C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Costo Total</a:t>
              </a:r>
              <a:endParaRPr/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0" y="1415987"/>
              <a:ext cx="4064100" cy="816900"/>
            </a:xfrm>
            <a:prstGeom prst="rect">
              <a:avLst/>
            </a:prstGeom>
            <a:solidFill>
              <a:srgbClr val="CDD4E9">
                <a:alpha val="90200"/>
              </a:srgbClr>
            </a:solidFill>
            <a:ln cap="flat" cmpd="sng" w="9525">
              <a:solidFill>
                <a:srgbClr val="4270C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1"/>
            <p:cNvSpPr txBox="1"/>
            <p:nvPr/>
          </p:nvSpPr>
          <p:spPr>
            <a:xfrm>
              <a:off x="0" y="1415987"/>
              <a:ext cx="4064100" cy="816900"/>
            </a:xfrm>
            <a:prstGeom prst="rect">
              <a:avLst/>
            </a:prstGeom>
            <a:solidFill>
              <a:srgbClr val="FFF2CC"/>
            </a:solidFill>
            <a:ln>
              <a:noFill/>
            </a:ln>
          </p:spPr>
          <p:txBody>
            <a:bodyPr anchorCtr="0" anchor="t" bIns="128000" lIns="315400" spcFirstLastPara="1" rIns="315400" wrap="square" tIns="3540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s-CL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$</a:t>
              </a:r>
              <a:r>
                <a:rPr lang="es-C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3.463.800.-</a:t>
              </a:r>
              <a:endParaRPr/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203200" y="1120787"/>
              <a:ext cx="3398400" cy="590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1"/>
            <p:cNvSpPr txBox="1"/>
            <p:nvPr/>
          </p:nvSpPr>
          <p:spPr>
            <a:xfrm>
              <a:off x="232021" y="1149608"/>
              <a:ext cx="33408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07525" spcFirstLastPara="1" rIns="1075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s-C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Margen 60%</a:t>
              </a: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0" y="2635972"/>
              <a:ext cx="4064100" cy="732600"/>
            </a:xfrm>
            <a:prstGeom prst="rect">
              <a:avLst/>
            </a:prstGeom>
            <a:solidFill>
              <a:srgbClr val="CDD4E9">
                <a:alpha val="90200"/>
              </a:srgbClr>
            </a:solidFill>
            <a:ln cap="flat" cmpd="sng" w="9525">
              <a:solidFill>
                <a:srgbClr val="4270C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1"/>
            <p:cNvSpPr txBox="1"/>
            <p:nvPr/>
          </p:nvSpPr>
          <p:spPr>
            <a:xfrm>
              <a:off x="0" y="2635972"/>
              <a:ext cx="4064100" cy="7326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anchorCtr="0" anchor="t" bIns="128000" lIns="315400" spcFirstLastPara="1" rIns="315400" wrap="square" tIns="3540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s-CL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$</a:t>
              </a:r>
              <a:r>
                <a:rPr lang="es-C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9.236.800.-</a:t>
              </a:r>
              <a:endParaRPr/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203200" y="2340772"/>
              <a:ext cx="3429000" cy="590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1"/>
            <p:cNvSpPr txBox="1"/>
            <p:nvPr/>
          </p:nvSpPr>
          <p:spPr>
            <a:xfrm>
              <a:off x="232021" y="2369593"/>
              <a:ext cx="33714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07525" spcFirstLastPara="1" rIns="1075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s-CL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Costo Final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258" name="Google Shape;258;p12"/>
          <p:cNvSpPr txBox="1"/>
          <p:nvPr/>
        </p:nvSpPr>
        <p:spPr>
          <a:xfrm>
            <a:off x="665402" y="2277466"/>
            <a:ext cx="108612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3.11: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lenguaje principal para el desarrollo.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PyQt6: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desarrollo de las interfaces gráficas de POS y BODEGA.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SQLite: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base de datos local compartida entre ambas aplicaciones.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 / GitHub: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control de versiones y trabajo colaborativo.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SMTP: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envío de notificaciones por correo electrónico.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Windows: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entorno de ejecución de las aplicaciones.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60972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9775" y="3719475"/>
            <a:ext cx="333375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"/>
          <p:cNvSpPr txBox="1"/>
          <p:nvPr/>
        </p:nvSpPr>
        <p:spPr>
          <a:xfrm>
            <a:off x="609558" y="858609"/>
            <a:ext cx="10515600" cy="10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266" name="Google Shape;2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60972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3"/>
          <p:cNvSpPr/>
          <p:nvPr/>
        </p:nvSpPr>
        <p:spPr>
          <a:xfrm>
            <a:off x="481375" y="2079150"/>
            <a:ext cx="5422500" cy="3769800"/>
          </a:xfrm>
          <a:prstGeom prst="round1Rect">
            <a:avLst>
              <a:gd fmla="val 16667" name="adj"/>
            </a:avLst>
          </a:prstGeom>
          <a:solidFill>
            <a:srgbClr val="BCC5E4"/>
          </a:solidFill>
          <a:ln cap="flat" cmpd="sng" w="9525">
            <a:solidFill>
              <a:srgbClr val="5D7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VAREKTA integra </a:t>
            </a:r>
            <a:r>
              <a:rPr b="1" lang="es-CL" sz="2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POS y BODEGA</a:t>
            </a:r>
            <a:r>
              <a:rPr lang="es-CL" sz="2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para centralizar la gestión de ventas, caja, inventario y abastecimiento. </a:t>
            </a:r>
            <a:endParaRPr sz="23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6259350" y="2079150"/>
            <a:ext cx="5422500" cy="3769800"/>
          </a:xfrm>
          <a:prstGeom prst="round1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888888"/>
                </a:solidFill>
              </a:rPr>
              <a:t>Permite </a:t>
            </a:r>
            <a:r>
              <a:rPr b="1" lang="es-CL" sz="2000">
                <a:solidFill>
                  <a:srgbClr val="888888"/>
                </a:solidFill>
              </a:rPr>
              <a:t>mejorar el control del negocio</a:t>
            </a:r>
            <a:r>
              <a:rPr lang="es-CL" sz="2000">
                <a:solidFill>
                  <a:srgbClr val="888888"/>
                </a:solidFill>
              </a:rPr>
              <a:t>, reducir diferencias de stock y facilitar la gestión de las operaciones. </a:t>
            </a:r>
            <a:endParaRPr sz="2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 txBox="1"/>
          <p:nvPr/>
        </p:nvSpPr>
        <p:spPr>
          <a:xfrm>
            <a:off x="1820375" y="2286900"/>
            <a:ext cx="24453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L" sz="2200">
                <a:solidFill>
                  <a:srgbClr val="5D7FC9"/>
                </a:solidFill>
                <a:latin typeface="Calibri"/>
                <a:ea typeface="Calibri"/>
                <a:cs typeface="Calibri"/>
                <a:sym typeface="Calibri"/>
              </a:rPr>
              <a:t>Solución consolidad</a:t>
            </a:r>
            <a:endParaRPr b="1" sz="2200">
              <a:solidFill>
                <a:srgbClr val="5D7FC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 txBox="1"/>
          <p:nvPr/>
        </p:nvSpPr>
        <p:spPr>
          <a:xfrm>
            <a:off x="7685350" y="2286900"/>
            <a:ext cx="24453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L" sz="2200">
                <a:solidFill>
                  <a:srgbClr val="7F6000"/>
                </a:solidFill>
                <a:latin typeface="Calibri"/>
                <a:ea typeface="Calibri"/>
                <a:cs typeface="Calibri"/>
                <a:sym typeface="Calibri"/>
              </a:rPr>
              <a:t>Valor e Impacto</a:t>
            </a:r>
            <a:endParaRPr b="1" sz="2200">
              <a:solidFill>
                <a:srgbClr val="7F6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